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6" r:id="rId3"/>
    <p:sldId id="258" r:id="rId4"/>
    <p:sldId id="269" r:id="rId5"/>
    <p:sldId id="271" r:id="rId6"/>
    <p:sldId id="259" r:id="rId7"/>
    <p:sldId id="267" r:id="rId8"/>
    <p:sldId id="268" r:id="rId9"/>
    <p:sldId id="264" r:id="rId10"/>
    <p:sldId id="263" r:id="rId11"/>
    <p:sldId id="272" r:id="rId12"/>
    <p:sldId id="270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6194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8657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9946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50398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02229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41600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39710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82830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85673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57069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5283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8EDA500-7921-F74A-9BC6-393411C86A80}" type="datetimeFigureOut">
              <a:rPr lang="en-HR" smtClean="0"/>
              <a:t>01/19/2025</a:t>
            </a:fld>
            <a:endParaRPr lang="en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98C103D-DAA0-E04D-85BC-F1593C822369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97825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1B12-A0E1-0437-266E-288D8D19E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hr-HR" dirty="0"/>
              <a:t>Identifikacija raka dojke na slikama mamografije</a:t>
            </a:r>
            <a:endParaRPr lang="en-H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79311-76C7-EA48-0EBE-E4E2CDE4D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0000"/>
            <a:ext cx="9144000" cy="2006600"/>
          </a:xfrm>
        </p:spPr>
        <p:txBody>
          <a:bodyPr>
            <a:normAutofit fontScale="92500" lnSpcReduction="20000"/>
          </a:bodyPr>
          <a:lstStyle/>
          <a:p>
            <a:r>
              <a:rPr lang="hr-HR" dirty="0"/>
              <a:t>Jakov Krčadinac, Tamara Ćorić, Lucija Čorak, </a:t>
            </a:r>
          </a:p>
          <a:p>
            <a:r>
              <a:rPr lang="hr-HR" dirty="0"/>
              <a:t>Martina Šola, Domagoj Marić</a:t>
            </a:r>
          </a:p>
          <a:p>
            <a:endParaRPr lang="hr-HR" dirty="0"/>
          </a:p>
          <a:p>
            <a:r>
              <a:rPr lang="hr-HR" sz="1800" dirty="0"/>
              <a:t>Projekt iz kolegija Analiza slike u biomedicini</a:t>
            </a:r>
            <a:endParaRPr lang="hr-HR" dirty="0"/>
          </a:p>
          <a:p>
            <a:r>
              <a:rPr lang="hr-HR" sz="1400" dirty="0"/>
              <a:t>Fakultet elektrotehnike i računarstva, Zagreb 2025.</a:t>
            </a:r>
            <a:endParaRPr lang="en-HR" sz="1400" dirty="0"/>
          </a:p>
        </p:txBody>
      </p:sp>
    </p:spTree>
    <p:extLst>
      <p:ext uri="{BB962C8B-B14F-4D97-AF65-F5344CB8AC3E}">
        <p14:creationId xmlns:p14="http://schemas.microsoft.com/office/powerpoint/2010/main" val="3919138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A583-5D76-5F0F-C47A-8486199D9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Rak dojke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8C894-2B2F-7B37-BB8C-415C8249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40903"/>
            <a:ext cx="8595360" cy="4351337"/>
          </a:xfrm>
        </p:spPr>
        <p:txBody>
          <a:bodyPr/>
          <a:lstStyle/>
          <a:p>
            <a:r>
              <a:rPr lang="hr-HR" dirty="0"/>
              <a:t>Bolest pri kojoj abnormalne stanice dojke nekontrolirano rastu i stvaraju tumore</a:t>
            </a:r>
          </a:p>
          <a:p>
            <a:r>
              <a:rPr lang="hr-HR" dirty="0"/>
              <a:t>Najčešće obolijevaju žene iznad pedesete godine života</a:t>
            </a:r>
          </a:p>
          <a:p>
            <a:r>
              <a:rPr lang="hr-HR" dirty="0"/>
              <a:t>Može se dijagnosticirati putem:</a:t>
            </a:r>
          </a:p>
          <a:p>
            <a:pPr marL="914400" lvl="1" indent="-457200">
              <a:buFont typeface="+mj-lt"/>
              <a:buAutoNum type="arabicPeriod"/>
            </a:pPr>
            <a:r>
              <a:rPr lang="hr-HR" u="sng" dirty="0"/>
              <a:t>mamografije</a:t>
            </a:r>
            <a:r>
              <a:rPr lang="hr-HR" dirty="0"/>
              <a:t>, rendgenskog pregleda dojki kojim se otkrivaju  tumori i druge promjene dojke koje su premalene da bi se mogle napipati</a:t>
            </a:r>
          </a:p>
          <a:p>
            <a:pPr marL="914400" lvl="1" indent="-457200">
              <a:buFont typeface="+mj-lt"/>
              <a:buAutoNum type="arabicPeriod"/>
            </a:pPr>
            <a:r>
              <a:rPr lang="hr-HR" u="sng" dirty="0"/>
              <a:t>ultrazvuka</a:t>
            </a:r>
            <a:r>
              <a:rPr lang="hr-HR" dirty="0"/>
              <a:t>, neškodljive radiološke dijagnostičke metode koja pomoću visokofrekventnog zvuka može procijeniti morfologiju, orijentaciju, unutarnju strukturu i rubove lezije iz više ravnina s visokom rezolucijom</a:t>
            </a:r>
          </a:p>
          <a:p>
            <a:endParaRPr lang="en-HR" dirty="0"/>
          </a:p>
          <a:p>
            <a:pPr marL="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3086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28CD-0369-5B7C-62BB-39BF5CF2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Korišteni skup podataka</a:t>
            </a:r>
            <a:endParaRPr lang="en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66F87-22D6-4C19-B725-C915E8A83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Javno dostupan skup podataka </a:t>
            </a:r>
            <a:r>
              <a:rPr lang="hr-HR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CBIS-DDSM: </a:t>
            </a:r>
            <a:r>
              <a:rPr lang="hr-HR" sz="1800" i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Breast</a:t>
            </a:r>
            <a:r>
              <a:rPr lang="hr-HR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hr-HR" sz="1800" i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Cancer</a:t>
            </a:r>
            <a:r>
              <a:rPr lang="hr-HR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hr-HR" sz="1800" i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Image</a:t>
            </a:r>
            <a:endParaRPr lang="hr-HR" sz="1800" i="1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lvl="1"/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10 000 rendgenskih slika s mamografije</a:t>
            </a:r>
          </a:p>
          <a:p>
            <a:pPr lvl="1"/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1566 pacijenata</a:t>
            </a:r>
          </a:p>
          <a:p>
            <a:pPr lvl="1"/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Patologija: maligno, benigno i benigno tkivo za koje nisu potrebni daljnji učestali pregledi</a:t>
            </a:r>
          </a:p>
          <a:p>
            <a:pPr lvl="1"/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Originalne snimke, izrezani manji dijelovi originalne slike i ROI maske</a:t>
            </a:r>
          </a:p>
          <a:p>
            <a:pPr lvl="1"/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Svaki pacijent je samo u jednom skupu, skupu za treniranje ili skupu za testiranje</a:t>
            </a:r>
          </a:p>
          <a:p>
            <a:pPr lvl="1"/>
            <a:endParaRPr lang="hr-HR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Korištene samo izrezane slike manjih dimenzija na kojima su već izdvojena područja interesa</a:t>
            </a:r>
          </a:p>
          <a:p>
            <a:pPr lvl="1"/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Originalne snimke su prevelike koje bi usporile učenje i otežale izradu modela</a:t>
            </a:r>
          </a:p>
          <a:p>
            <a:pPr lvl="1"/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ROI maske ne sadrže nikakve korisne informacije je li prikazano tkivo maligno</a:t>
            </a:r>
          </a:p>
          <a:p>
            <a:pPr lvl="1"/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Nažalost nije bilo moguće razlikovati koje su datoteke u podatkovnom skupu ROI maske, a koje izrezane slike zbog nekonzistentnog imenovanja</a:t>
            </a:r>
          </a:p>
          <a:p>
            <a:pPr lvl="1"/>
            <a:r>
              <a:rPr lang="hr-HR" dirty="0">
                <a:latin typeface="Times New Roman" panose="02020603050405020304" pitchFamily="18" charset="0"/>
                <a:ea typeface="SimSun" panose="02010600030101010101" pitchFamily="2" charset="-122"/>
              </a:rPr>
              <a:t>Zbog toga smo morali iz podatkovnog skupa odvojiti izrezane slike na temelju dimenzija</a:t>
            </a:r>
          </a:p>
          <a:p>
            <a:pPr lvl="1"/>
            <a:endParaRPr lang="hr-HR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1092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5FFEC-B7F2-94CA-6607-54B301C58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851" y="533400"/>
            <a:ext cx="8948928" cy="254760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hr-HR" sz="2000" b="1" dirty="0"/>
              <a:t>Automatizirana ekstrakcija izrezanih slika na temelju dimenzija</a:t>
            </a:r>
          </a:p>
          <a:p>
            <a:r>
              <a:rPr lang="hr-HR" dirty="0"/>
              <a:t>Vidljivo je da su izrezane slike uvijek znatno manjih dimenzija od ROI maski koje imaju dimenzije originalne slike</a:t>
            </a:r>
          </a:p>
          <a:p>
            <a:r>
              <a:rPr lang="hr-HR" dirty="0"/>
              <a:t>Izrezana slika i ROI maska se nalaze u istoj mapi, program prolazi kroz svaku mapu i uzima samo sliku manjih dimenzija (izrezanu) te ju sprema u konačni podatkovni skup</a:t>
            </a:r>
          </a:p>
          <a:p>
            <a:r>
              <a:rPr lang="hr-HR" dirty="0"/>
              <a:t>Konačni podatkovni skup sada ima manje od 200MB, dok je preuzeti podatkovni skup koji uključuje originalne slike i ROI maske imao preko 11GB</a:t>
            </a:r>
          </a:p>
        </p:txBody>
      </p:sp>
      <p:pic>
        <p:nvPicPr>
          <p:cNvPr id="8" name="Picture 7" descr="A graph with red and blue dots&#10;&#10;Description automatically generated">
            <a:extLst>
              <a:ext uri="{FF2B5EF4-FFF2-40B4-BE49-F238E27FC236}">
                <a16:creationId xmlns:a16="http://schemas.microsoft.com/office/drawing/2014/main" id="{CE46A65A-678B-5B65-6705-F5B62DB060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51" y="3174089"/>
            <a:ext cx="4466423" cy="2816429"/>
          </a:xfrm>
          <a:prstGeom prst="rect">
            <a:avLst/>
          </a:prstGeom>
        </p:spPr>
      </p:pic>
      <p:pic>
        <p:nvPicPr>
          <p:cNvPr id="9" name="Picture 8" descr="A graph showing red and blue dots&#10;&#10;Description automatically generated">
            <a:extLst>
              <a:ext uri="{FF2B5EF4-FFF2-40B4-BE49-F238E27FC236}">
                <a16:creationId xmlns:a16="http://schemas.microsoft.com/office/drawing/2014/main" id="{C4DCA1C4-5C38-1F43-D0A9-6917CAFF85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831" y="3154458"/>
            <a:ext cx="4509269" cy="28308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3D2261-325E-6FE4-5BD7-A09A96B3D63C}"/>
              </a:ext>
            </a:extLst>
          </p:cNvPr>
          <p:cNvSpPr txBox="1"/>
          <p:nvPr/>
        </p:nvSpPr>
        <p:spPr>
          <a:xfrm>
            <a:off x="1219200" y="6062270"/>
            <a:ext cx="4466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dirty="0"/>
              <a:t>Dimenzije 1546 izrezanih slika i ROI maski u skupu za treniranje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1DA75-267D-E3F0-8BA2-C31EA13FA6E7}"/>
              </a:ext>
            </a:extLst>
          </p:cNvPr>
          <p:cNvSpPr txBox="1"/>
          <p:nvPr/>
        </p:nvSpPr>
        <p:spPr>
          <a:xfrm>
            <a:off x="5894831" y="6058778"/>
            <a:ext cx="4466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400" dirty="0"/>
              <a:t>Dimenzije 326 izrezanih slika i ROI maski u skupu za testiranje</a:t>
            </a:r>
          </a:p>
        </p:txBody>
      </p:sp>
    </p:spTree>
    <p:extLst>
      <p:ext uri="{BB962C8B-B14F-4D97-AF65-F5344CB8AC3E}">
        <p14:creationId xmlns:p14="http://schemas.microsoft.com/office/powerpoint/2010/main" val="417601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of blue rectangular objects&#10;&#10;Description automatically generated with medium confidence">
            <a:extLst>
              <a:ext uri="{FF2B5EF4-FFF2-40B4-BE49-F238E27FC236}">
                <a16:creationId xmlns:a16="http://schemas.microsoft.com/office/drawing/2014/main" id="{70F0CE12-F616-2250-D8C8-5230EF4B7E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59" y="2372182"/>
            <a:ext cx="4479925" cy="3342819"/>
          </a:xfrm>
          <a:prstGeom prst="rect">
            <a:avLst/>
          </a:prstGeom>
        </p:spPr>
      </p:pic>
      <p:pic>
        <p:nvPicPr>
          <p:cNvPr id="8" name="Content Placeholder 7" descr="A purple bar graph with white text&#10;&#10;Description automatically generated">
            <a:extLst>
              <a:ext uri="{FF2B5EF4-FFF2-40B4-BE49-F238E27FC236}">
                <a16:creationId xmlns:a16="http://schemas.microsoft.com/office/drawing/2014/main" id="{B2F3845B-E646-A2EE-572B-C2362E854DB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159" y="2398566"/>
            <a:ext cx="4481512" cy="329005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40DDE0-56A8-6E73-F983-6BEFED6571A1}"/>
              </a:ext>
            </a:extLst>
          </p:cNvPr>
          <p:cNvSpPr txBox="1">
            <a:spLocks/>
          </p:cNvSpPr>
          <p:nvPr/>
        </p:nvSpPr>
        <p:spPr>
          <a:xfrm>
            <a:off x="1160304" y="1219200"/>
            <a:ext cx="9163367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000" b="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1800" dirty="0"/>
              <a:t>Razdioba vrijednosti značajke </a:t>
            </a:r>
            <a:r>
              <a:rPr lang="hr-HR" sz="1800" dirty="0" err="1"/>
              <a:t>Pathology</a:t>
            </a:r>
            <a:r>
              <a:rPr lang="hr-HR" sz="1800" dirty="0"/>
              <a:t> na skupovima za treniranje i testiranje</a:t>
            </a:r>
          </a:p>
        </p:txBody>
      </p:sp>
    </p:spTree>
    <p:extLst>
      <p:ext uri="{BB962C8B-B14F-4D97-AF65-F5344CB8AC3E}">
        <p14:creationId xmlns:p14="http://schemas.microsoft.com/office/powerpoint/2010/main" val="148384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F4EAD-3AB9-3FAB-0A5C-4EA75A8A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Rješenje problema</a:t>
            </a:r>
            <a:endParaRPr lang="en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53FC-9A00-CEE8-4F47-4056DC931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Biblioteke: </a:t>
            </a:r>
            <a:r>
              <a:rPr lang="hr-HR" dirty="0" err="1"/>
              <a:t>PyTorch</a:t>
            </a:r>
            <a:r>
              <a:rPr lang="hr-HR" dirty="0"/>
              <a:t>, </a:t>
            </a:r>
            <a:r>
              <a:rPr lang="hr-HR" dirty="0" err="1"/>
              <a:t>pandas</a:t>
            </a:r>
            <a:r>
              <a:rPr lang="hr-HR" dirty="0"/>
              <a:t>, </a:t>
            </a:r>
            <a:r>
              <a:rPr lang="hr-HR" dirty="0" err="1"/>
              <a:t>torch.nn</a:t>
            </a:r>
            <a:endParaRPr lang="hr-HR" dirty="0"/>
          </a:p>
          <a:p>
            <a:endParaRPr lang="hr-HR" dirty="0"/>
          </a:p>
          <a:p>
            <a:r>
              <a:rPr lang="hr-HR" dirty="0"/>
              <a:t>Podaci učitani iz CSV datoteka pomoću prilagođene klase </a:t>
            </a:r>
            <a:r>
              <a:rPr lang="hr-HR" i="1" dirty="0" err="1"/>
              <a:t>BreastCancerDataset</a:t>
            </a:r>
            <a:r>
              <a:rPr lang="hr-HR" dirty="0"/>
              <a:t> koja omogućuje učitavanje i transformaciju slike uz povezivanje s pripadajućom klasifikacijom</a:t>
            </a:r>
          </a:p>
          <a:p>
            <a:endParaRPr lang="hr-HR" dirty="0"/>
          </a:p>
          <a:p>
            <a:r>
              <a:rPr lang="hr-HR" dirty="0"/>
              <a:t>Usporedba dva pristupa:</a:t>
            </a:r>
          </a:p>
          <a:p>
            <a:pPr marL="617220" lvl="1" indent="-342900">
              <a:buFont typeface="+mj-lt"/>
              <a:buAutoNum type="arabicPeriod"/>
            </a:pPr>
            <a:r>
              <a:rPr lang="hr-HR" dirty="0"/>
              <a:t>Treniranje modela od nule</a:t>
            </a:r>
          </a:p>
          <a:p>
            <a:pPr marL="617220" lvl="1" indent="-342900">
              <a:buFont typeface="+mj-lt"/>
              <a:buAutoNum type="arabicPeriod"/>
            </a:pPr>
            <a:r>
              <a:rPr lang="hr-HR" dirty="0"/>
              <a:t>Korištenje unaprijed istreniranih modela</a:t>
            </a:r>
          </a:p>
          <a:p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3937804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03F5-CF1F-9502-960F-ED5120063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914400"/>
            <a:ext cx="8595360" cy="52657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r-HR" sz="2000" b="1" dirty="0"/>
              <a:t>Treniranje od nule</a:t>
            </a:r>
          </a:p>
          <a:p>
            <a:r>
              <a:rPr lang="hr-HR" dirty="0"/>
              <a:t>Klasa CNN</a:t>
            </a:r>
          </a:p>
          <a:p>
            <a:pPr lvl="1"/>
            <a:r>
              <a:rPr lang="hr-HR" dirty="0"/>
              <a:t>Dva bloka </a:t>
            </a:r>
            <a:r>
              <a:rPr lang="hr-HR" dirty="0" err="1"/>
              <a:t>konvolucijskih</a:t>
            </a:r>
            <a:r>
              <a:rPr lang="hr-HR" dirty="0"/>
              <a:t> slojeva </a:t>
            </a:r>
            <a:r>
              <a:rPr lang="hr-HR" dirty="0">
                <a:sym typeface="Wingdings" panose="05000000000000000000" pitchFamily="2" charset="2"/>
              </a:rPr>
              <a:t> blok = 2 </a:t>
            </a:r>
            <a:r>
              <a:rPr lang="hr-HR" dirty="0" err="1">
                <a:sym typeface="Wingdings" panose="05000000000000000000" pitchFamily="2" charset="2"/>
              </a:rPr>
              <a:t>konvolucijska</a:t>
            </a:r>
            <a:r>
              <a:rPr lang="hr-HR" dirty="0">
                <a:sym typeface="Wingdings" panose="05000000000000000000" pitchFamily="2" charset="2"/>
              </a:rPr>
              <a:t> sloja + 2 sloja za normalizaciju</a:t>
            </a:r>
          </a:p>
          <a:p>
            <a:pPr lvl="1"/>
            <a:r>
              <a:rPr lang="hr-HR" i="1" dirty="0" err="1"/>
              <a:t>ReLu</a:t>
            </a:r>
            <a:r>
              <a:rPr lang="hr-HR" dirty="0"/>
              <a:t> kao aktivacijska funkcija za sve slojeve</a:t>
            </a:r>
          </a:p>
          <a:p>
            <a:pPr lvl="1"/>
            <a:r>
              <a:rPr lang="hr-HR" dirty="0"/>
              <a:t>Na kraju svakog bloka su implementirani slojevi za smanjenje </a:t>
            </a:r>
            <a:r>
              <a:rPr lang="hr-HR" dirty="0" err="1"/>
              <a:t>dimenzionalnosti</a:t>
            </a:r>
            <a:r>
              <a:rPr lang="hr-HR" dirty="0"/>
              <a:t> (</a:t>
            </a:r>
            <a:r>
              <a:rPr lang="hr-HR" i="1" dirty="0" err="1"/>
              <a:t>MaxPool</a:t>
            </a:r>
            <a:r>
              <a:rPr lang="hr-HR" dirty="0"/>
              <a:t>)</a:t>
            </a:r>
          </a:p>
          <a:p>
            <a:pPr lvl="1"/>
            <a:r>
              <a:rPr lang="hr-HR" dirty="0"/>
              <a:t>Izlazi su izravnati u jednodimenzionalni tenzor te proslijeđeni kroz dva potpuno povezana sloja, čiji konačni izlaz odgovara broju klasa (3)</a:t>
            </a:r>
          </a:p>
          <a:p>
            <a:pPr lvl="1"/>
            <a:r>
              <a:rPr lang="hr-HR" i="1" dirty="0" err="1"/>
              <a:t>ReduceLROnPlateau</a:t>
            </a:r>
            <a:r>
              <a:rPr lang="hr-HR" dirty="0"/>
              <a:t> za izbjegavanje stagnacije tijekom treniranja modela</a:t>
            </a:r>
            <a:endParaRPr lang="hr-HR" i="1" dirty="0"/>
          </a:p>
          <a:p>
            <a:pPr lvl="1"/>
            <a:endParaRPr lang="hr-HR" dirty="0"/>
          </a:p>
          <a:p>
            <a:r>
              <a:rPr lang="hr-HR" dirty="0" err="1"/>
              <a:t>SimpleCNN</a:t>
            </a:r>
            <a:endParaRPr lang="hr-HR" dirty="0"/>
          </a:p>
          <a:p>
            <a:pPr lvl="1"/>
            <a:r>
              <a:rPr lang="hr-HR" dirty="0"/>
              <a:t>Jednostavniji model (sprječavanje </a:t>
            </a:r>
            <a:r>
              <a:rPr lang="hr-HR" dirty="0" err="1"/>
              <a:t>prenaučenosti</a:t>
            </a:r>
            <a:r>
              <a:rPr lang="hr-HR" dirty="0"/>
              <a:t>)</a:t>
            </a:r>
          </a:p>
          <a:p>
            <a:pPr lvl="1"/>
            <a:r>
              <a:rPr lang="hr-HR" dirty="0"/>
              <a:t>4 </a:t>
            </a:r>
            <a:r>
              <a:rPr lang="hr-HR" dirty="0" err="1"/>
              <a:t>konvolucijska</a:t>
            </a:r>
            <a:r>
              <a:rPr lang="hr-HR" dirty="0"/>
              <a:t> sloja</a:t>
            </a:r>
          </a:p>
          <a:p>
            <a:pPr marL="274320" lvl="1" indent="0">
              <a:buNone/>
            </a:pPr>
            <a:endParaRPr lang="hr-HR" dirty="0"/>
          </a:p>
          <a:p>
            <a:r>
              <a:rPr lang="hr-HR" i="1" dirty="0"/>
              <a:t>Adam</a:t>
            </a:r>
            <a:r>
              <a:rPr lang="hr-HR" dirty="0"/>
              <a:t> algoritam uz definiranu stopu učenja i </a:t>
            </a:r>
            <a:r>
              <a:rPr lang="hr-HR" dirty="0" err="1"/>
              <a:t>regularizaciju</a:t>
            </a:r>
            <a:r>
              <a:rPr lang="hr-HR" dirty="0"/>
              <a:t> </a:t>
            </a:r>
            <a:r>
              <a:rPr lang="hr-HR" dirty="0">
                <a:sym typeface="Wingdings" panose="05000000000000000000" pitchFamily="2" charset="2"/>
              </a:rPr>
              <a:t> optimizacija modela</a:t>
            </a:r>
          </a:p>
          <a:p>
            <a:r>
              <a:rPr lang="hr-HR" i="1" dirty="0" err="1"/>
              <a:t>CrossEntropyLoss</a:t>
            </a:r>
            <a:r>
              <a:rPr lang="hr-HR" dirty="0"/>
              <a:t> za računanje gubitka i </a:t>
            </a:r>
            <a:r>
              <a:rPr lang="hr-HR" i="1" dirty="0" err="1"/>
              <a:t>accuracy_score</a:t>
            </a:r>
            <a:r>
              <a:rPr lang="hr-HR" dirty="0"/>
              <a:t> za procjenu uspješnosti modela prilikom treninga i validacije</a:t>
            </a:r>
            <a:endParaRPr lang="hr-HR" i="1" dirty="0"/>
          </a:p>
        </p:txBody>
      </p:sp>
    </p:spTree>
    <p:extLst>
      <p:ext uri="{BB962C8B-B14F-4D97-AF65-F5344CB8AC3E}">
        <p14:creationId xmlns:p14="http://schemas.microsoft.com/office/powerpoint/2010/main" val="121758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7CFF3-4727-C7B5-A819-4DDDFB21A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sz="2000" b="1" dirty="0"/>
              <a:t>Prethodno treniran model</a:t>
            </a:r>
            <a:endParaRPr lang="hr-HR" dirty="0"/>
          </a:p>
          <a:p>
            <a:r>
              <a:rPr lang="hr-HR" dirty="0" err="1"/>
              <a:t>ResNet</a:t>
            </a:r>
            <a:endParaRPr lang="hr-HR" dirty="0"/>
          </a:p>
          <a:p>
            <a:pPr lvl="1"/>
            <a:r>
              <a:rPr lang="hr-HR" dirty="0"/>
              <a:t>18 slojeva</a:t>
            </a:r>
          </a:p>
          <a:p>
            <a:pPr lvl="1"/>
            <a:r>
              <a:rPr lang="hr-HR" dirty="0"/>
              <a:t>Prethodno treniran na skupu slika </a:t>
            </a:r>
            <a:r>
              <a:rPr lang="hr-HR" i="1" dirty="0" err="1"/>
              <a:t>ImageNet</a:t>
            </a:r>
            <a:endParaRPr lang="hr-HR" dirty="0"/>
          </a:p>
          <a:p>
            <a:pPr lvl="1"/>
            <a:r>
              <a:rPr lang="hr-HR" dirty="0"/>
              <a:t>Kao ulaz prima RGB slike dimenzija 224x224 </a:t>
            </a:r>
            <a:r>
              <a:rPr lang="hr-HR" dirty="0">
                <a:sym typeface="Wingdings" panose="05000000000000000000" pitchFamily="2" charset="2"/>
              </a:rPr>
              <a:t> prilagođene dimenzije korištenog skupa podataka, normalizirana transformacija</a:t>
            </a:r>
          </a:p>
          <a:p>
            <a:pPr lvl="1"/>
            <a:r>
              <a:rPr lang="hr-HR" dirty="0">
                <a:sym typeface="Wingdings" panose="05000000000000000000" pitchFamily="2" charset="2"/>
              </a:rPr>
              <a:t>Promijenjena </a:t>
            </a:r>
            <a:r>
              <a:rPr lang="hr-HR" dirty="0" err="1">
                <a:sym typeface="Wingdings" panose="05000000000000000000" pitchFamily="2" charset="2"/>
              </a:rPr>
              <a:t>dimenzionalnost</a:t>
            </a:r>
            <a:r>
              <a:rPr lang="hr-HR" dirty="0">
                <a:sym typeface="Wingdings" panose="05000000000000000000" pitchFamily="2" charset="2"/>
              </a:rPr>
              <a:t> ulaznog sloja zbog slika u sivim tonovima koje se nalaze u korištenom </a:t>
            </a:r>
            <a:r>
              <a:rPr lang="hr-HR" dirty="0" err="1">
                <a:sym typeface="Wingdings" panose="05000000000000000000" pitchFamily="2" charset="2"/>
              </a:rPr>
              <a:t>datasetu</a:t>
            </a:r>
            <a:endParaRPr lang="hr-HR" dirty="0">
              <a:sym typeface="Wingdings" panose="05000000000000000000" pitchFamily="2" charset="2"/>
            </a:endParaRPr>
          </a:p>
          <a:p>
            <a:pPr lvl="1"/>
            <a:endParaRPr lang="hr-HR" dirty="0"/>
          </a:p>
          <a:p>
            <a:r>
              <a:rPr lang="hr-HR" i="1" dirty="0"/>
              <a:t>Adam</a:t>
            </a:r>
            <a:r>
              <a:rPr lang="hr-HR" dirty="0"/>
              <a:t> algoritam za</a:t>
            </a:r>
            <a:r>
              <a:rPr lang="hr-HR" dirty="0">
                <a:sym typeface="Wingdings" panose="05000000000000000000" pitchFamily="2" charset="2"/>
              </a:rPr>
              <a:t> optimizaciju modela</a:t>
            </a:r>
          </a:p>
          <a:p>
            <a:r>
              <a:rPr lang="hr-HR" i="1" dirty="0" err="1"/>
              <a:t>accuracy_score</a:t>
            </a:r>
            <a:r>
              <a:rPr lang="hr-HR" dirty="0"/>
              <a:t> za procjenu uspješnosti modela prilikom treninga i validacije</a:t>
            </a:r>
            <a:endParaRPr lang="hr-HR" i="1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78326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D19B-C027-4C27-9ABF-7C3B681D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Eksperimentalni rezultati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4A58F-F927-6756-6864-5E284A57F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40903"/>
            <a:ext cx="8595360" cy="4351337"/>
          </a:xfrm>
        </p:spPr>
        <p:txBody>
          <a:bodyPr/>
          <a:lstStyle/>
          <a:p>
            <a:r>
              <a:rPr lang="hr-HR" dirty="0"/>
              <a:t>80% podataka za treniranje, 20% podataka za testiranje</a:t>
            </a:r>
          </a:p>
          <a:p>
            <a:endParaRPr lang="hr-HR" dirty="0"/>
          </a:p>
          <a:p>
            <a:r>
              <a:rPr lang="hr-HR" b="1" i="1" dirty="0" err="1"/>
              <a:t>Konvolucijska</a:t>
            </a:r>
            <a:r>
              <a:rPr lang="hr-HR" b="1" i="1" dirty="0"/>
              <a:t> neuronska mreža, CNN</a:t>
            </a:r>
          </a:p>
          <a:p>
            <a:pPr lvl="1"/>
            <a:r>
              <a:rPr lang="hr-HR" dirty="0"/>
              <a:t>20 epoha treniranja</a:t>
            </a:r>
          </a:p>
          <a:p>
            <a:pPr lvl="1"/>
            <a:r>
              <a:rPr lang="hr-HR" dirty="0"/>
              <a:t>Gubitak preko 65%</a:t>
            </a:r>
          </a:p>
          <a:p>
            <a:pPr lvl="1"/>
            <a:r>
              <a:rPr lang="hr-HR" sz="1800" dirty="0"/>
              <a:t>Točnost oko između </a:t>
            </a:r>
            <a:r>
              <a:rPr lang="hr-HR" sz="1800" b="1" dirty="0"/>
              <a:t>58% i 62%</a:t>
            </a:r>
          </a:p>
          <a:p>
            <a:pPr lvl="1"/>
            <a:r>
              <a:rPr lang="hr-HR" dirty="0" err="1"/>
              <a:t>Weighted</a:t>
            </a:r>
            <a:r>
              <a:rPr lang="hr-HR" dirty="0"/>
              <a:t> </a:t>
            </a:r>
            <a:r>
              <a:rPr lang="hr-HR" dirty="0" err="1"/>
              <a:t>average</a:t>
            </a:r>
            <a:r>
              <a:rPr lang="hr-HR" dirty="0"/>
              <a:t> F-1 </a:t>
            </a:r>
            <a:r>
              <a:rPr lang="hr-HR" dirty="0" err="1"/>
              <a:t>score</a:t>
            </a:r>
            <a:r>
              <a:rPr lang="hr-HR" dirty="0"/>
              <a:t>: 0.58</a:t>
            </a:r>
          </a:p>
          <a:p>
            <a:pPr lvl="1"/>
            <a:r>
              <a:rPr lang="hr-HR" dirty="0"/>
              <a:t>Maligne uzorke zna pogrešno klasificirati </a:t>
            </a:r>
          </a:p>
          <a:p>
            <a:pPr marL="274320" lvl="1" indent="0">
              <a:buNone/>
            </a:pPr>
            <a:r>
              <a:rPr lang="hr-HR" dirty="0"/>
              <a:t>   kao benigne</a:t>
            </a:r>
            <a:endParaRPr lang="en-HR" dirty="0"/>
          </a:p>
        </p:txBody>
      </p:sp>
      <p:pic>
        <p:nvPicPr>
          <p:cNvPr id="4" name="Picture 3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89233E18-B525-1F54-8EC2-1361C7F065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979" y="3416968"/>
            <a:ext cx="3542348" cy="30471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7E8FE5BF-6BFE-79A4-9FB2-C063E3C18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2060" y="6328989"/>
            <a:ext cx="3454005" cy="2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ctr">
              <a:spcAft>
                <a:spcPts val="1000"/>
              </a:spcAft>
            </a:pPr>
            <a:r>
              <a:rPr lang="hr-HR" sz="900" i="1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Slika 6. Prikaz konfuzijske matrice</a:t>
            </a:r>
          </a:p>
          <a:p>
            <a:pPr marL="0" marR="0" algn="ctr"/>
            <a:r>
              <a:rPr lang="hr-HR" sz="100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73832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1322-52E0-5EE8-FAF0-82125B4E1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i="1" dirty="0"/>
              <a:t>Prethodno treniran model, </a:t>
            </a:r>
            <a:r>
              <a:rPr lang="hr-HR" b="1" i="1" dirty="0" err="1"/>
              <a:t>ResNet</a:t>
            </a:r>
            <a:endParaRPr lang="hr-HR" b="1" i="1" dirty="0"/>
          </a:p>
          <a:p>
            <a:pPr lvl="1"/>
            <a:r>
              <a:rPr lang="hr-HR" dirty="0"/>
              <a:t>10 epoha treniranja</a:t>
            </a:r>
          </a:p>
          <a:p>
            <a:pPr lvl="1"/>
            <a:r>
              <a:rPr lang="hr-HR" dirty="0"/>
              <a:t>Gubitak veći od 90%</a:t>
            </a:r>
          </a:p>
          <a:p>
            <a:pPr lvl="1"/>
            <a:r>
              <a:rPr lang="hr-HR" dirty="0"/>
              <a:t>Točnost oko 50%</a:t>
            </a:r>
          </a:p>
          <a:p>
            <a:pPr lvl="1"/>
            <a:endParaRPr lang="hr-HR" dirty="0"/>
          </a:p>
          <a:p>
            <a:r>
              <a:rPr lang="hr-HR" b="1" i="1" dirty="0"/>
              <a:t>Jednostavnija </a:t>
            </a:r>
            <a:r>
              <a:rPr lang="hr-HR" b="1" i="1" dirty="0" err="1"/>
              <a:t>konvolucijska</a:t>
            </a:r>
            <a:r>
              <a:rPr lang="hr-HR" b="1" i="1" dirty="0"/>
              <a:t> neuronska mreža, </a:t>
            </a:r>
            <a:r>
              <a:rPr lang="hr-HR" b="1" i="1" dirty="0" err="1"/>
              <a:t>Simple</a:t>
            </a:r>
            <a:r>
              <a:rPr lang="hr-HR" b="1" i="1" dirty="0"/>
              <a:t> CNN</a:t>
            </a:r>
          </a:p>
          <a:p>
            <a:pPr lvl="1"/>
            <a:r>
              <a:rPr lang="hr-HR" dirty="0"/>
              <a:t>4 </a:t>
            </a:r>
            <a:r>
              <a:rPr lang="hr-HR" dirty="0" err="1"/>
              <a:t>konvolucijska</a:t>
            </a:r>
            <a:r>
              <a:rPr lang="hr-HR" dirty="0"/>
              <a:t> sloja</a:t>
            </a:r>
          </a:p>
          <a:p>
            <a:pPr lvl="1"/>
            <a:r>
              <a:rPr lang="hr-HR" dirty="0"/>
              <a:t>20 epoha treniranja</a:t>
            </a:r>
          </a:p>
          <a:p>
            <a:pPr lvl="1"/>
            <a:r>
              <a:rPr lang="hr-HR" dirty="0"/>
              <a:t>Gubitak oko 80%</a:t>
            </a:r>
          </a:p>
          <a:p>
            <a:pPr lvl="1"/>
            <a:r>
              <a:rPr lang="hr-HR" dirty="0"/>
              <a:t>Točnost oko 54% </a:t>
            </a:r>
          </a:p>
          <a:p>
            <a:pPr lvl="1"/>
            <a:r>
              <a:rPr lang="hr-HR" dirty="0"/>
              <a:t>Relativno sklon </a:t>
            </a:r>
            <a:r>
              <a:rPr lang="hr-HR" dirty="0" err="1"/>
              <a:t>prenuačenosti</a:t>
            </a:r>
            <a:endParaRPr lang="en-H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2BEB8F-1D76-0877-AF72-2BDEAC07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/>
          <a:lstStyle/>
          <a:p>
            <a:r>
              <a:rPr lang="hr-HR" dirty="0"/>
              <a:t>Eksperimentalni rezultati</a:t>
            </a:r>
          </a:p>
        </p:txBody>
      </p:sp>
    </p:spTree>
    <p:extLst>
      <p:ext uri="{BB962C8B-B14F-4D97-AF65-F5344CB8AC3E}">
        <p14:creationId xmlns:p14="http://schemas.microsoft.com/office/powerpoint/2010/main" val="3480545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19BC-3686-4EE3-0DBC-780D9F52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65760"/>
            <a:ext cx="9692640" cy="1325562"/>
          </a:xfrm>
        </p:spPr>
        <p:txBody>
          <a:bodyPr>
            <a:normAutofit/>
          </a:bodyPr>
          <a:lstStyle/>
          <a:p>
            <a:r>
              <a:rPr lang="hr-HR" dirty="0"/>
              <a:t>Usporedba naših rezultata s rezultatima prethodnih radova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C99CA-8993-7B69-4B9A-7F772C6FD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828800"/>
            <a:ext cx="8595360" cy="466344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hr-HR" sz="2400" b="1" i="1" dirty="0" err="1"/>
              <a:t>Diagnosis</a:t>
            </a:r>
            <a:r>
              <a:rPr lang="hr-HR" sz="2400" b="1" i="1" dirty="0"/>
              <a:t> </a:t>
            </a:r>
            <a:r>
              <a:rPr lang="hr-HR" sz="2400" b="1" i="1" dirty="0" err="1"/>
              <a:t>in</a:t>
            </a:r>
            <a:r>
              <a:rPr lang="hr-HR" sz="2400" b="1" i="1" dirty="0"/>
              <a:t> </a:t>
            </a:r>
            <a:r>
              <a:rPr lang="hr-HR" sz="2400" b="1" i="1" dirty="0" err="1"/>
              <a:t>Two-View</a:t>
            </a:r>
            <a:r>
              <a:rPr lang="hr-HR" sz="2400" b="1" i="1" dirty="0"/>
              <a:t> </a:t>
            </a:r>
            <a:r>
              <a:rPr lang="hr-HR" sz="2400" b="1" i="1" dirty="0" err="1"/>
              <a:t>Mammography</a:t>
            </a:r>
            <a:r>
              <a:rPr lang="hr-HR" sz="2400" b="1" i="1" dirty="0"/>
              <a:t> </a:t>
            </a:r>
            <a:r>
              <a:rPr lang="hr-HR" sz="2400" b="1" i="1" dirty="0" err="1"/>
              <a:t>Using</a:t>
            </a:r>
            <a:r>
              <a:rPr lang="hr-HR" sz="2400" b="1" i="1" dirty="0"/>
              <a:t> </a:t>
            </a:r>
            <a:r>
              <a:rPr lang="hr-HR" sz="2400" b="1" i="1" dirty="0" err="1"/>
              <a:t>End</a:t>
            </a:r>
            <a:r>
              <a:rPr lang="hr-HR" sz="2400" b="1" i="1" dirty="0"/>
              <a:t>-to-</a:t>
            </a:r>
            <a:r>
              <a:rPr lang="hr-HR" sz="2400" b="1" i="1" dirty="0" err="1"/>
              <a:t>End</a:t>
            </a:r>
            <a:r>
              <a:rPr lang="hr-HR" sz="2400" b="1" i="1" dirty="0"/>
              <a:t> </a:t>
            </a:r>
            <a:r>
              <a:rPr lang="hr-HR" sz="2400" b="1" i="1" dirty="0" err="1"/>
              <a:t>Trained</a:t>
            </a:r>
            <a:r>
              <a:rPr lang="hr-HR" sz="2400" b="1" i="1" dirty="0"/>
              <a:t> </a:t>
            </a:r>
            <a:r>
              <a:rPr lang="hr-HR" sz="2400" b="1" i="1" dirty="0" err="1"/>
              <a:t>EfficientNet-Based</a:t>
            </a:r>
            <a:r>
              <a:rPr lang="hr-HR" sz="2400" b="1" i="1" dirty="0"/>
              <a:t> CNN </a:t>
            </a:r>
          </a:p>
          <a:p>
            <a:pPr lvl="1">
              <a:lnSpc>
                <a:spcPct val="150000"/>
              </a:lnSpc>
            </a:pPr>
            <a:r>
              <a:rPr lang="hr-HR" sz="2000" dirty="0"/>
              <a:t>85,13% točnosti (5-fold </a:t>
            </a:r>
            <a:r>
              <a:rPr lang="hr-HR" sz="2000" dirty="0" err="1"/>
              <a:t>cross-validation</a:t>
            </a:r>
            <a:r>
              <a:rPr lang="hr-H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hr-HR" sz="2000" dirty="0"/>
              <a:t>Model </a:t>
            </a:r>
            <a:r>
              <a:rPr lang="hr-HR" sz="2000" dirty="0" err="1"/>
              <a:t>EfficientNet</a:t>
            </a:r>
            <a:r>
              <a:rPr lang="hr-HR" sz="2000" dirty="0"/>
              <a:t> (visoka robusnost, generalizacija, napredna arhitektura)</a:t>
            </a:r>
          </a:p>
          <a:p>
            <a:pPr lvl="1">
              <a:lnSpc>
                <a:spcPct val="150000"/>
              </a:lnSpc>
            </a:pPr>
            <a:r>
              <a:rPr lang="hr-HR" sz="2000" dirty="0"/>
              <a:t>Učitavane slike su većih dimenzije (očuvani detalji) </a:t>
            </a:r>
          </a:p>
          <a:p>
            <a:pPr lvl="1">
              <a:lnSpc>
                <a:spcPct val="150000"/>
              </a:lnSpc>
            </a:pPr>
            <a:r>
              <a:rPr lang="hr-HR" sz="2000" dirty="0"/>
              <a:t>Isključene slike BENIGN_WITHOUT_CALLBACK + klasifikacija BENIGN_WITHOUT_CALLBACK promijenjena u BENIGN</a:t>
            </a:r>
          </a:p>
          <a:p>
            <a:pPr lvl="1">
              <a:lnSpc>
                <a:spcPct val="150000"/>
              </a:lnSpc>
            </a:pPr>
            <a:r>
              <a:rPr lang="hr-HR" sz="2000" dirty="0"/>
              <a:t>Postoje mnogo manje vizualne razlike između izrezanih slika koje su označene kao BENIGN_WITHOUT_CALLBACK  i BENIGN</a:t>
            </a:r>
          </a:p>
          <a:p>
            <a:pPr lvl="1">
              <a:lnSpc>
                <a:spcPct val="150000"/>
              </a:lnSpc>
            </a:pPr>
            <a:r>
              <a:rPr lang="hr-HR" sz="2000" dirty="0"/>
              <a:t>Reklasifikacija slika na ovaj način bi vjerojatno poboljšala preciznost našeg modela</a:t>
            </a:r>
          </a:p>
          <a:p>
            <a:pPr lvl="1">
              <a:lnSpc>
                <a:spcPct val="150000"/>
              </a:lnSpc>
            </a:pPr>
            <a:endParaRPr lang="hr-HR" sz="2000" dirty="0"/>
          </a:p>
        </p:txBody>
      </p:sp>
    </p:spTree>
    <p:extLst>
      <p:ext uri="{BB962C8B-B14F-4D97-AF65-F5344CB8AC3E}">
        <p14:creationId xmlns:p14="http://schemas.microsoft.com/office/powerpoint/2010/main" val="4104331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14F4-E5A7-032D-30BA-AC5BB876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Usporedba naših rezultata s rezultatima prethodnih radova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A04F2E-F9FD-8417-BECD-481CDB4A4E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8716" y="1736468"/>
            <a:ext cx="845820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sr-Latn-RS" altLang="sr-Latn-R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Prethodni radovi na </a:t>
            </a:r>
            <a:r>
              <a:rPr kumimoji="0" lang="sr-Latn-RS" altLang="sr-Latn-R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Kaggle</a:t>
            </a:r>
            <a:r>
              <a:rPr kumimoji="0" lang="sr-Latn-RS" altLang="sr-Latn-R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platformi</a:t>
            </a:r>
            <a:endParaRPr kumimoji="0" lang="sr-Latn-RS" altLang="sr-Latn-R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Dva rada s visokom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točnošću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~90%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Skup </a:t>
            </a:r>
            <a:r>
              <a:rPr kumimoji="0" lang="sr-Latn-RS" altLang="sr-Latn-R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CBIS-DDSM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korišten samo za demonstraciju ROI maski i vizualnog procesiranja CNN-a, a ne za treniranje 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CNN modeli trenirani na različitom skupu podataka (</a:t>
            </a:r>
            <a:r>
              <a:rPr kumimoji="0" lang="sr-Latn-RS" altLang="sr-Latn-R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Breast</a:t>
            </a:r>
            <a:r>
              <a:rPr kumimoji="0" lang="sr-Latn-RS" altLang="sr-Latn-R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sr-Latn-RS" altLang="sr-Latn-R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Histopathology</a:t>
            </a:r>
            <a:r>
              <a:rPr kumimoji="0" lang="sr-Latn-RS" altLang="sr-Latn-R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sr-Latn-RS" altLang="sr-Latn-R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Images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altLang="sr-Latn-R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765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8FBC-F86A-106B-C381-CB22C3EA1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B0ECE-D659-1CE4-3C22-0252C3990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Cilj projekta je bio postići preciznu klasifikaciju slika mamografije dojki koje prikazuju maligne ili benigne promjene te promjene koje ne prikazuju tumor vrijedan daljnjeg praćenja</a:t>
            </a:r>
          </a:p>
          <a:p>
            <a:r>
              <a:rPr lang="hr-HR" dirty="0"/>
              <a:t>Korišteno je nekoliko implementacija CNN-a različitih kompleksnosti</a:t>
            </a:r>
          </a:p>
          <a:p>
            <a:pPr lvl="1"/>
            <a:r>
              <a:rPr lang="hr-HR" dirty="0"/>
              <a:t>Najsofisticiraniji i najjednostavniji model podjednako dobro klasificiraju (54%)</a:t>
            </a:r>
          </a:p>
          <a:p>
            <a:pPr lvl="1"/>
            <a:r>
              <a:rPr lang="hr-HR" dirty="0"/>
              <a:t>Srednje komplicirana instanca CNN-a najuspješnije klasificira (58-62%)</a:t>
            </a:r>
          </a:p>
          <a:p>
            <a:r>
              <a:rPr lang="hr-HR" dirty="0"/>
              <a:t>Moguća bolja klasifikacija korištenjem robusnijeg algoritma kao što je ‘</a:t>
            </a:r>
            <a:r>
              <a:rPr lang="hr-HR" dirty="0" err="1"/>
              <a:t>EfficientNet</a:t>
            </a:r>
            <a:r>
              <a:rPr lang="hr-HR" dirty="0"/>
              <a:t>’ ili podjelom skupa podataka na binarnu klasifikaciju (BENIGN, MALIGNANT)</a:t>
            </a:r>
          </a:p>
          <a:p>
            <a:r>
              <a:rPr lang="hr-HR" dirty="0"/>
              <a:t>Vrijedilo bi istražiti klasificiranje alternativnog skupa podataka s </a:t>
            </a:r>
            <a:r>
              <a:rPr lang="hr-HR" dirty="0" err="1"/>
              <a:t>histopatološkim</a:t>
            </a:r>
            <a:r>
              <a:rPr lang="hr-HR" dirty="0"/>
              <a:t> slikama uzoraka tkiva dojke</a:t>
            </a:r>
          </a:p>
        </p:txBody>
      </p:sp>
    </p:spTree>
    <p:extLst>
      <p:ext uri="{BB962C8B-B14F-4D97-AF65-F5344CB8AC3E}">
        <p14:creationId xmlns:p14="http://schemas.microsoft.com/office/powerpoint/2010/main" val="252042847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195</TotalTime>
  <Words>887</Words>
  <Application>Microsoft Office PowerPoint</Application>
  <PresentationFormat>Široki zaslon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13</vt:i4>
      </vt:variant>
    </vt:vector>
  </HeadingPairs>
  <TitlesOfParts>
    <vt:vector size="19" baseType="lpstr">
      <vt:lpstr>Arial</vt:lpstr>
      <vt:lpstr>Century Schoolbook</vt:lpstr>
      <vt:lpstr>Times New Roman</vt:lpstr>
      <vt:lpstr>Wingdings</vt:lpstr>
      <vt:lpstr>Wingdings 2</vt:lpstr>
      <vt:lpstr>View</vt:lpstr>
      <vt:lpstr>Identifikacija raka dojke na slikama mamografije</vt:lpstr>
      <vt:lpstr>Rak dojke</vt:lpstr>
      <vt:lpstr>Korišteni skup podataka</vt:lpstr>
      <vt:lpstr>PowerPoint prezentacija</vt:lpstr>
      <vt:lpstr>PowerPoint prezentacija</vt:lpstr>
      <vt:lpstr>Rješenje problema</vt:lpstr>
      <vt:lpstr>PowerPoint prezentacija</vt:lpstr>
      <vt:lpstr>PowerPoint prezentacija</vt:lpstr>
      <vt:lpstr>Eksperimentalni rezultati</vt:lpstr>
      <vt:lpstr>Eksperimentalni rezultati</vt:lpstr>
      <vt:lpstr>Usporedba naših rezultata s rezultatima prethodnih radova</vt:lpstr>
      <vt:lpstr>Usporedba naših rezultata s rezultatima prethodnih radova</vt:lpstr>
      <vt:lpstr>Zaključak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Identifikacija raka dojke na slikama ultrazvuka</dc:title>
  <dc:creator>Martina Šola</dc:creator>
  <cp:lastModifiedBy>Jakov Krčadinac</cp:lastModifiedBy>
  <cp:revision>19</cp:revision>
  <dcterms:created xsi:type="dcterms:W3CDTF">2025-01-18T11:26:39Z</dcterms:created>
  <dcterms:modified xsi:type="dcterms:W3CDTF">2025-01-19T14:02:53Z</dcterms:modified>
</cp:coreProperties>
</file>